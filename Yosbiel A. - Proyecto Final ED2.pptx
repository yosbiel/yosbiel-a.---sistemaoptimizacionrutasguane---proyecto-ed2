
<file path=[Content_Types].xml><?xml version="1.0" encoding="utf-8"?>
<Types xmlns="http://schemas.openxmlformats.org/package/2006/content-types">
  <Default Extension="mp3" ContentType="audio/unknown"/>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59" r:id="rId4"/>
    <p:sldId id="260" r:id="rId5"/>
    <p:sldId id="261" r:id="rId6"/>
    <p:sldId id="262" r:id="rId7"/>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0" d="100"/>
          <a:sy n="70" d="100"/>
        </p:scale>
        <p:origin x="-1386"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51"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52"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5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54"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48655"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56"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‹Nº›</a:t>
            </a:fld>
            <a:endParaRPr lang="en-US"/>
          </a:p>
        </p:txBody>
      </p:sp>
    </p:spTree>
    <p:extLst>
      <p:ext uri="{BB962C8B-B14F-4D97-AF65-F5344CB8AC3E}">
        <p14:creationId xmlns:p14="http://schemas.microsoft.com/office/powerpoint/2010/main" val="197852020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1048596"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1048597"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1048598" name="3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599" name="4 Marcador de pie de página"/>
          <p:cNvSpPr>
            <a:spLocks noGrp="1"/>
          </p:cNvSpPr>
          <p:nvPr>
            <p:ph type="ftr" sz="quarter" idx="11"/>
          </p:nvPr>
        </p:nvSpPr>
        <p:spPr/>
        <p:txBody>
          <a:bodyPr/>
          <a:lstStyle/>
          <a:p>
            <a:endParaRPr lang="es-ES"/>
          </a:p>
        </p:txBody>
      </p:sp>
      <p:sp>
        <p:nvSpPr>
          <p:cNvPr id="1048600"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1048610" name="1 Título"/>
          <p:cNvSpPr>
            <a:spLocks noGrp="1"/>
          </p:cNvSpPr>
          <p:nvPr>
            <p:ph type="title"/>
          </p:nvPr>
        </p:nvSpPr>
        <p:spPr/>
        <p:txBody>
          <a:bodyPr>
            <a:normAutofit fontScale="90000"/>
          </a:bodyPr>
          <a:lstStyle/>
          <a:p>
            <a:r>
              <a:rPr lang="es-ES" smtClean="0"/>
              <a:t>Haga clic para modificar el estilo de título del patrón</a:t>
            </a:r>
            <a:endParaRPr lang="es-ES"/>
          </a:p>
        </p:txBody>
      </p:sp>
      <p:sp>
        <p:nvSpPr>
          <p:cNvPr id="1048611"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12" name="3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13" name="4 Marcador de pie de página"/>
          <p:cNvSpPr>
            <a:spLocks noGrp="1"/>
          </p:cNvSpPr>
          <p:nvPr>
            <p:ph type="ftr" sz="quarter" idx="11"/>
          </p:nvPr>
        </p:nvSpPr>
        <p:spPr/>
        <p:txBody>
          <a:bodyPr/>
          <a:lstStyle/>
          <a:p>
            <a:endParaRPr lang="es-ES"/>
          </a:p>
        </p:txBody>
      </p:sp>
      <p:sp>
        <p:nvSpPr>
          <p:cNvPr id="1048614"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1048626"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1048627"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1048628" name="3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29" name="4 Marcador de pie de página"/>
          <p:cNvSpPr>
            <a:spLocks noGrp="1"/>
          </p:cNvSpPr>
          <p:nvPr>
            <p:ph type="ftr" sz="quarter" idx="11"/>
          </p:nvPr>
        </p:nvSpPr>
        <p:spPr/>
        <p:txBody>
          <a:bodyPr/>
          <a:lstStyle/>
          <a:p>
            <a:endParaRPr lang="es-ES"/>
          </a:p>
        </p:txBody>
      </p:sp>
      <p:sp>
        <p:nvSpPr>
          <p:cNvPr id="1048630"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1048631" name="1 Título"/>
          <p:cNvSpPr>
            <a:spLocks noGrp="1"/>
          </p:cNvSpPr>
          <p:nvPr>
            <p:ph type="title"/>
          </p:nvPr>
        </p:nvSpPr>
        <p:spPr/>
        <p:txBody>
          <a:bodyPr>
            <a:normAutofit fontScale="90000"/>
          </a:bodyPr>
          <a:lstStyle/>
          <a:p>
            <a:r>
              <a:rPr lang="es-ES" smtClean="0"/>
              <a:t>Haga clic para modificar el estilo de título del patrón</a:t>
            </a:r>
            <a:endParaRPr lang="es-ES"/>
          </a:p>
        </p:txBody>
      </p:sp>
      <p:sp>
        <p:nvSpPr>
          <p:cNvPr id="1048632"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33"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34" name="4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35" name="5 Marcador de pie de página"/>
          <p:cNvSpPr>
            <a:spLocks noGrp="1"/>
          </p:cNvSpPr>
          <p:nvPr>
            <p:ph type="ftr" sz="quarter" idx="11"/>
          </p:nvPr>
        </p:nvSpPr>
        <p:spPr/>
        <p:txBody>
          <a:bodyPr/>
          <a:lstStyle/>
          <a:p>
            <a:endParaRPr lang="es-ES"/>
          </a:p>
        </p:txBody>
      </p:sp>
      <p:sp>
        <p:nvSpPr>
          <p:cNvPr id="1048636"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48637" name="1 Título"/>
          <p:cNvSpPr>
            <a:spLocks noGrp="1"/>
          </p:cNvSpPr>
          <p:nvPr>
            <p:ph type="title"/>
          </p:nvPr>
        </p:nvSpPr>
        <p:spPr/>
        <p:txBody>
          <a:bodyPr>
            <a:normAutofit fontScale="90000"/>
          </a:bodyPr>
          <a:lstStyle/>
          <a:p>
            <a:r>
              <a:rPr lang="es-ES" smtClean="0"/>
              <a:t>Haga clic para modificar el estilo de título del patrón</a:t>
            </a:r>
            <a:endParaRPr lang="es-ES"/>
          </a:p>
        </p:txBody>
      </p:sp>
      <p:sp>
        <p:nvSpPr>
          <p:cNvPr id="1048638" name="2 Marcador de texto"/>
          <p:cNvSpPr>
            <a:spLocks noGrp="1"/>
          </p:cNvSpPr>
          <p:nvPr>
            <p:ph type="body" idx="1"/>
          </p:nvPr>
        </p:nvSpPr>
        <p:spPr>
          <a:xfrm>
            <a:off x="457200" y="1535113"/>
            <a:ext cx="4040188" cy="639762"/>
          </a:xfrm>
        </p:spPr>
        <p:txBody>
          <a:bodyPr anchor="b">
            <a:normAutofit fontScale="95833" lnSpcReduction="20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048639"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40" name="4 Marcador de texto"/>
          <p:cNvSpPr>
            <a:spLocks noGrp="1"/>
          </p:cNvSpPr>
          <p:nvPr>
            <p:ph type="body" sz="quarter" idx="3"/>
          </p:nvPr>
        </p:nvSpPr>
        <p:spPr>
          <a:xfrm>
            <a:off x="4645025" y="1535113"/>
            <a:ext cx="4041775" cy="639762"/>
          </a:xfrm>
        </p:spPr>
        <p:txBody>
          <a:bodyPr anchor="b">
            <a:normAutofit fontScale="95833" lnSpcReduction="20000"/>
          </a:bodyPr>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1048641"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42" name="6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43" name="7 Marcador de pie de página"/>
          <p:cNvSpPr>
            <a:spLocks noGrp="1"/>
          </p:cNvSpPr>
          <p:nvPr>
            <p:ph type="ftr" sz="quarter" idx="11"/>
          </p:nvPr>
        </p:nvSpPr>
        <p:spPr/>
        <p:txBody>
          <a:bodyPr/>
          <a:lstStyle/>
          <a:p>
            <a:endParaRPr lang="es-ES"/>
          </a:p>
        </p:txBody>
      </p:sp>
      <p:sp>
        <p:nvSpPr>
          <p:cNvPr id="1048644" name="8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1048601" name="1 Título"/>
          <p:cNvSpPr>
            <a:spLocks noGrp="1"/>
          </p:cNvSpPr>
          <p:nvPr>
            <p:ph type="title"/>
          </p:nvPr>
        </p:nvSpPr>
        <p:spPr/>
        <p:txBody>
          <a:bodyPr>
            <a:normAutofit fontScale="90000"/>
          </a:bodyPr>
          <a:lstStyle/>
          <a:p>
            <a:r>
              <a:rPr lang="es-ES" smtClean="0"/>
              <a:t>Haga clic para modificar el estilo de título del patrón</a:t>
            </a:r>
            <a:endParaRPr lang="es-ES"/>
          </a:p>
        </p:txBody>
      </p:sp>
      <p:sp>
        <p:nvSpPr>
          <p:cNvPr id="1048602" name="2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03" name="3 Marcador de pie de página"/>
          <p:cNvSpPr>
            <a:spLocks noGrp="1"/>
          </p:cNvSpPr>
          <p:nvPr>
            <p:ph type="ftr" sz="quarter" idx="11"/>
          </p:nvPr>
        </p:nvSpPr>
        <p:spPr/>
        <p:txBody>
          <a:bodyPr/>
          <a:lstStyle/>
          <a:p>
            <a:endParaRPr lang="es-ES"/>
          </a:p>
        </p:txBody>
      </p:sp>
      <p:sp>
        <p:nvSpPr>
          <p:cNvPr id="1048604" name="4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048581" name="1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582" name="2 Marcador de pie de página"/>
          <p:cNvSpPr>
            <a:spLocks noGrp="1"/>
          </p:cNvSpPr>
          <p:nvPr>
            <p:ph type="ftr" sz="quarter" idx="11"/>
          </p:nvPr>
        </p:nvSpPr>
        <p:spPr/>
        <p:txBody>
          <a:bodyPr/>
          <a:lstStyle/>
          <a:p>
            <a:endParaRPr lang="es-ES"/>
          </a:p>
        </p:txBody>
      </p:sp>
      <p:sp>
        <p:nvSpPr>
          <p:cNvPr id="1048583" name="3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1048645"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1048646"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47"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048648" name="4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49" name="5 Marcador de pie de página"/>
          <p:cNvSpPr>
            <a:spLocks noGrp="1"/>
          </p:cNvSpPr>
          <p:nvPr>
            <p:ph type="ftr" sz="quarter" idx="11"/>
          </p:nvPr>
        </p:nvSpPr>
        <p:spPr/>
        <p:txBody>
          <a:bodyPr/>
          <a:lstStyle/>
          <a:p>
            <a:endParaRPr lang="es-ES"/>
          </a:p>
        </p:txBody>
      </p:sp>
      <p:sp>
        <p:nvSpPr>
          <p:cNvPr id="1048650"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048615" name="1 Título"/>
          <p:cNvSpPr>
            <a:spLocks noGrp="1"/>
          </p:cNvSpPr>
          <p:nvPr>
            <p:ph type="title"/>
          </p:nvPr>
        </p:nvSpPr>
        <p:spPr>
          <a:xfrm>
            <a:off x="1792288" y="4800600"/>
            <a:ext cx="5486400" cy="566738"/>
          </a:xfrm>
        </p:spPr>
        <p:txBody>
          <a:bodyPr anchor="b">
            <a:normAutofit fontScale="90000"/>
          </a:bodyPr>
          <a:lstStyle>
            <a:lvl1pPr algn="l">
              <a:defRPr sz="2000" b="1"/>
            </a:lvl1pPr>
          </a:lstStyle>
          <a:p>
            <a:r>
              <a:rPr lang="es-ES" smtClean="0"/>
              <a:t>Haga clic para modificar el estilo de título del patrón</a:t>
            </a:r>
            <a:endParaRPr lang="es-ES"/>
          </a:p>
        </p:txBody>
      </p:sp>
      <p:sp>
        <p:nvSpPr>
          <p:cNvPr id="1048616"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1048617"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1048618" name="4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19" name="5 Marcador de pie de página"/>
          <p:cNvSpPr>
            <a:spLocks noGrp="1"/>
          </p:cNvSpPr>
          <p:nvPr>
            <p:ph type="ftr" sz="quarter" idx="11"/>
          </p:nvPr>
        </p:nvSpPr>
        <p:spPr/>
        <p:txBody>
          <a:bodyPr/>
          <a:lstStyle/>
          <a:p>
            <a:endParaRPr lang="es-ES"/>
          </a:p>
        </p:txBody>
      </p:sp>
      <p:sp>
        <p:nvSpPr>
          <p:cNvPr id="1048620" name="6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048621" name="1 Título"/>
          <p:cNvSpPr>
            <a:spLocks noGrp="1"/>
          </p:cNvSpPr>
          <p:nvPr>
            <p:ph type="title"/>
          </p:nvPr>
        </p:nvSpPr>
        <p:spPr/>
        <p:txBody>
          <a:bodyPr>
            <a:normAutofit fontScale="90000"/>
          </a:bodyPr>
          <a:lstStyle/>
          <a:p>
            <a:r>
              <a:rPr lang="es-ES" smtClean="0"/>
              <a:t>Haga clic para modificar el estilo de título del patrón</a:t>
            </a:r>
            <a:endParaRPr lang="es-ES"/>
          </a:p>
        </p:txBody>
      </p:sp>
      <p:sp>
        <p:nvSpPr>
          <p:cNvPr id="1048622"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23" name="3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24" name="4 Marcador de pie de página"/>
          <p:cNvSpPr>
            <a:spLocks noGrp="1"/>
          </p:cNvSpPr>
          <p:nvPr>
            <p:ph type="ftr" sz="quarter" idx="11"/>
          </p:nvPr>
        </p:nvSpPr>
        <p:spPr/>
        <p:txBody>
          <a:bodyPr/>
          <a:lstStyle/>
          <a:p>
            <a:endParaRPr lang="es-ES"/>
          </a:p>
        </p:txBody>
      </p:sp>
      <p:sp>
        <p:nvSpPr>
          <p:cNvPr id="1048625"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048605" name="1 Título vertical"/>
          <p:cNvSpPr>
            <a:spLocks noGrp="1"/>
          </p:cNvSpPr>
          <p:nvPr>
            <p:ph type="title" orient="vert"/>
          </p:nvPr>
        </p:nvSpPr>
        <p:spPr>
          <a:xfrm>
            <a:off x="6629400" y="274638"/>
            <a:ext cx="2057400" cy="5851525"/>
          </a:xfrm>
        </p:spPr>
        <p:txBody>
          <a:bodyPr vert="eaVert">
            <a:normAutofit fontScale="95455"/>
          </a:bodyPr>
          <a:lstStyle/>
          <a:p>
            <a:r>
              <a:rPr lang="es-ES" smtClean="0"/>
              <a:t>Haga clic para modificar el estilo de título del patrón</a:t>
            </a:r>
            <a:endParaRPr lang="es-ES"/>
          </a:p>
        </p:txBody>
      </p:sp>
      <p:sp>
        <p:nvSpPr>
          <p:cNvPr id="1048606"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607" name="3 Marcador de fecha"/>
          <p:cNvSpPr>
            <a:spLocks noGrp="1"/>
          </p:cNvSpPr>
          <p:nvPr>
            <p:ph type="dt" sz="half" idx="10"/>
          </p:nvPr>
        </p:nvSpPr>
        <p:spPr/>
        <p:txBody>
          <a:bodyPr/>
          <a:lstStyle/>
          <a:p>
            <a:fld id="{7A847CFC-816F-41D0-AAC0-9BF4FEBC753E}" type="datetimeFigureOut">
              <a:rPr lang="es-ES" smtClean="0"/>
              <a:t>18/06/2026</a:t>
            </a:fld>
            <a:endParaRPr lang="es-ES"/>
          </a:p>
        </p:txBody>
      </p:sp>
      <p:sp>
        <p:nvSpPr>
          <p:cNvPr id="1048608" name="4 Marcador de pie de página"/>
          <p:cNvSpPr>
            <a:spLocks noGrp="1"/>
          </p:cNvSpPr>
          <p:nvPr>
            <p:ph type="ftr" sz="quarter" idx="11"/>
          </p:nvPr>
        </p:nvSpPr>
        <p:spPr/>
        <p:txBody>
          <a:bodyPr/>
          <a:lstStyle/>
          <a:p>
            <a:endParaRPr lang="es-ES"/>
          </a:p>
        </p:txBody>
      </p:sp>
      <p:sp>
        <p:nvSpPr>
          <p:cNvPr id="1048609" name="5 Marcador de número de diapositiva"/>
          <p:cNvSpPr>
            <a:spLocks noGrp="1"/>
          </p:cNvSpPr>
          <p:nvPr>
            <p:ph type="sldNum" sz="quarter" idx="12"/>
          </p:nvPr>
        </p:nvSpPr>
        <p:spPr/>
        <p:txBody>
          <a:bodyPr/>
          <a:lstStyle/>
          <a:p>
            <a:fld id="{132FADFE-3B8F-471C-ABF0-DBC7717ECBBC}"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1048577"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1048578"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847CFC-816F-41D0-AAC0-9BF4FEBC753E}" type="datetimeFigureOut">
              <a:rPr lang="es-ES" smtClean="0"/>
              <a:t>18/06/2026</a:t>
            </a:fld>
            <a:endParaRPr lang="es-ES"/>
          </a:p>
        </p:txBody>
      </p:sp>
      <p:sp>
        <p:nvSpPr>
          <p:cNvPr id="1048579"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1048580"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2.png"/><Relationship Id="rId4"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3.mp3"/><Relationship Id="rId1" Type="http://schemas.microsoft.com/office/2007/relationships/media" Target="../media/media3.mp3"/><Relationship Id="rId5" Type="http://schemas.openxmlformats.org/officeDocument/2006/relationships/image" Target="../media/image2.png"/><Relationship Id="rId4" Type="http://schemas.openxmlformats.org/officeDocument/2006/relationships/image" Target="../media/image1.jpeg"/></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7.xml"/><Relationship Id="rId7" Type="http://schemas.openxmlformats.org/officeDocument/2006/relationships/image" Target="../media/image5.png"/><Relationship Id="rId2" Type="http://schemas.openxmlformats.org/officeDocument/2006/relationships/audio" Target="../media/media4.mp3"/><Relationship Id="rId1" Type="http://schemas.microsoft.com/office/2007/relationships/media" Target="../media/media4.mp3"/><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1.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image" Target="../media/image7.png"/><Relationship Id="rId2" Type="http://schemas.openxmlformats.org/officeDocument/2006/relationships/audio" Target="../media/media5.mp3"/><Relationship Id="rId1" Type="http://schemas.microsoft.com/office/2007/relationships/media" Target="../media/media5.mp3"/><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1.jpe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2.png"/><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1048593" name="1 Rectángulo"/>
          <p:cNvSpPr/>
          <p:nvPr/>
        </p:nvSpPr>
        <p:spPr>
          <a:xfrm>
            <a:off x="1340768" y="1188495"/>
            <a:ext cx="6462464" cy="1938992"/>
          </a:xfrm>
          <a:prstGeom prst="rect">
            <a:avLst/>
          </a:prstGeom>
        </p:spPr>
        <p:txBody>
          <a:bodyPr wrap="square">
            <a:spAutoFit/>
          </a:bodyPr>
          <a:lstStyle/>
          <a:p>
            <a:pPr algn="r"/>
            <a:r>
              <a:rPr lang="en-US" sz="4000" dirty="0">
                <a:latin typeface="Britannic Bold" pitchFamily="34" charset="0"/>
              </a:rPr>
              <a:t>Sistema </a:t>
            </a:r>
            <a:r>
              <a:rPr lang="en-US" sz="4000" dirty="0" smtClean="0">
                <a:latin typeface="Britannic Bold" pitchFamily="34" charset="0"/>
              </a:rPr>
              <a:t>de </a:t>
            </a:r>
            <a:r>
              <a:rPr lang="en-US" sz="4000" dirty="0" err="1" smtClean="0">
                <a:latin typeface="Britannic Bold" pitchFamily="34" charset="0"/>
              </a:rPr>
              <a:t>Optimización</a:t>
            </a:r>
            <a:r>
              <a:rPr lang="en-US" sz="4000" dirty="0" smtClean="0">
                <a:latin typeface="Britannic Bold" pitchFamily="34" charset="0"/>
              </a:rPr>
              <a:t> </a:t>
            </a:r>
            <a:r>
              <a:rPr lang="en-US" sz="4000" dirty="0">
                <a:latin typeface="Britannic Bold" pitchFamily="34" charset="0"/>
              </a:rPr>
              <a:t>de Rutas de Distribución </a:t>
            </a:r>
            <a:r>
              <a:rPr lang="en-US" sz="4000" dirty="0" err="1">
                <a:latin typeface="Britannic Bold" pitchFamily="34" charset="0"/>
              </a:rPr>
              <a:t>para</a:t>
            </a:r>
            <a:r>
              <a:rPr lang="en-US" sz="4000" dirty="0">
                <a:latin typeface="Britannic Bold" pitchFamily="34" charset="0"/>
              </a:rPr>
              <a:t> el Municipio Guane</a:t>
            </a:r>
            <a:endParaRPr lang="es-ES" sz="4000" dirty="0">
              <a:latin typeface="Britannic Bold" pitchFamily="34" charset="0"/>
            </a:endParaRPr>
          </a:p>
        </p:txBody>
      </p:sp>
      <p:sp>
        <p:nvSpPr>
          <p:cNvPr id="1048594" name="2 CuadroTexto"/>
          <p:cNvSpPr txBox="1"/>
          <p:nvPr/>
        </p:nvSpPr>
        <p:spPr>
          <a:xfrm>
            <a:off x="899592" y="5013176"/>
            <a:ext cx="4608512" cy="1200329"/>
          </a:xfrm>
          <a:prstGeom prst="rect">
            <a:avLst/>
          </a:prstGeom>
          <a:noFill/>
        </p:spPr>
        <p:txBody>
          <a:bodyPr wrap="square" rtlCol="0">
            <a:spAutoFit/>
          </a:bodyPr>
          <a:lstStyle/>
          <a:p>
            <a:r>
              <a:rPr lang="en-US" b="1" u="sng" dirty="0">
                <a:solidFill>
                  <a:srgbClr val="00B050"/>
                </a:solidFill>
              </a:rPr>
              <a:t>Estudiante: </a:t>
            </a:r>
            <a:r>
              <a:rPr lang="en-US" dirty="0"/>
              <a:t>Yosbiel Alejandro Díaz Cala</a:t>
            </a:r>
            <a:endParaRPr lang="es-ES" dirty="0"/>
          </a:p>
          <a:p>
            <a:r>
              <a:rPr lang="en-US" b="1" u="sng" dirty="0">
                <a:solidFill>
                  <a:srgbClr val="00B050"/>
                </a:solidFill>
              </a:rPr>
              <a:t>Carrera: </a:t>
            </a:r>
            <a:r>
              <a:rPr lang="en-US" dirty="0" err="1"/>
              <a:t>Ingeniería</a:t>
            </a:r>
            <a:r>
              <a:rPr lang="en-US" dirty="0"/>
              <a:t> Informática</a:t>
            </a:r>
            <a:endParaRPr lang="es-ES" dirty="0"/>
          </a:p>
          <a:p>
            <a:r>
              <a:rPr lang="en-US" b="1" u="sng" dirty="0">
                <a:solidFill>
                  <a:srgbClr val="00B050"/>
                </a:solidFill>
              </a:rPr>
              <a:t>Curso: </a:t>
            </a:r>
            <a:r>
              <a:rPr lang="en-US" dirty="0"/>
              <a:t>2do </a:t>
            </a:r>
            <a:r>
              <a:rPr lang="en-US" dirty="0" smtClean="0"/>
              <a:t>Año</a:t>
            </a:r>
          </a:p>
          <a:p>
            <a:r>
              <a:rPr lang="en-US" b="1" u="sng" dirty="0" smtClean="0">
                <a:solidFill>
                  <a:srgbClr val="00B050"/>
                </a:solidFill>
              </a:rPr>
              <a:t>Asignatura: </a:t>
            </a:r>
            <a:r>
              <a:rPr lang="en-US" dirty="0" smtClean="0"/>
              <a:t>Estructura de Datos II</a:t>
            </a:r>
            <a:endParaRPr lang="es-ES" dirty="0"/>
          </a:p>
        </p:txBody>
      </p:sp>
      <p:pic>
        <p:nvPicPr>
          <p:cNvPr id="2" name="Yosbiel P1.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817705" y="578895"/>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152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1048595" name="1 CuadroTexto"/>
          <p:cNvSpPr txBox="1"/>
          <p:nvPr/>
        </p:nvSpPr>
        <p:spPr>
          <a:xfrm>
            <a:off x="971600" y="620688"/>
            <a:ext cx="7344816" cy="5509200"/>
          </a:xfrm>
          <a:prstGeom prst="rect">
            <a:avLst/>
          </a:prstGeom>
          <a:noFill/>
        </p:spPr>
        <p:txBody>
          <a:bodyPr wrap="square" rtlCol="0">
            <a:spAutoFit/>
          </a:bodyPr>
          <a:lstStyle/>
          <a:p>
            <a:pPr algn="r"/>
            <a:r>
              <a:rPr lang="en-US" sz="2800" b="1" u="sng" dirty="0" smtClean="0">
                <a:solidFill>
                  <a:srgbClr val="00B050"/>
                </a:solidFill>
              </a:rPr>
              <a:t>Problemática</a:t>
            </a:r>
          </a:p>
          <a:p>
            <a:pPr marL="285750" indent="-285750">
              <a:buFont typeface="Wingdings" pitchFamily="2" charset="2"/>
              <a:buChar char="q"/>
            </a:pPr>
            <a:endParaRPr lang="es-ES" b="1" dirty="0"/>
          </a:p>
          <a:p>
            <a:pPr marL="285750" indent="-285750">
              <a:buFont typeface="Wingdings" pitchFamily="2" charset="2"/>
              <a:buChar char="q"/>
            </a:pPr>
            <a:endParaRPr lang="es-ES" b="1" dirty="0"/>
          </a:p>
          <a:p>
            <a:pPr marL="285750" indent="-285750">
              <a:buFont typeface="Wingdings" charset="2"/>
              <a:buChar char="¡"/>
            </a:pPr>
            <a:r>
              <a:rPr lang="en-US" b="1" u="sng" dirty="0"/>
              <a:t>Situación actual:</a:t>
            </a:r>
            <a:endParaRPr lang="es-ES" b="1" u="sng" dirty="0"/>
          </a:p>
          <a:p>
            <a:pPr marL="0" indent="0">
              <a:buNone/>
            </a:pPr>
            <a:r>
              <a:rPr lang="en-US" dirty="0"/>
              <a:t>En el municipio Guane, el control del territorio y las rutas de distribución se lleva de forma manual (mapas, expedientes, estimaciones), lo que genera desconocimiento de la jerarquía real, cálculos imprecisos y falta de planificación.</a:t>
            </a:r>
            <a:endParaRPr lang="es-ES" b="1" dirty="0"/>
          </a:p>
          <a:p>
            <a:pPr marL="285750" indent="-285750">
              <a:buFont typeface="Wingdings" pitchFamily="2" charset="2"/>
              <a:buChar char="q"/>
            </a:pPr>
            <a:endParaRPr lang="es-ES" b="1" dirty="0"/>
          </a:p>
          <a:p>
            <a:pPr marL="285750" indent="-285750">
              <a:buFont typeface="Wingdings" charset="2"/>
              <a:buChar char="¡"/>
            </a:pPr>
            <a:r>
              <a:rPr lang="en-US" b="1" u="sng" dirty="0"/>
              <a:t>Objetivo: </a:t>
            </a:r>
            <a:endParaRPr lang="es-ES" b="1" u="sng" dirty="0"/>
          </a:p>
          <a:p>
            <a:pPr marL="0" indent="0">
              <a:buNone/>
            </a:pPr>
            <a:r>
              <a:rPr lang="en-US" dirty="0"/>
              <a:t>Digitalizar el proceso respetando la jerarquía geográfica: Cuba → Pinar del Río → Guane → 8 Consejos Populares.</a:t>
            </a:r>
            <a:endParaRPr lang="es-ES" dirty="0"/>
          </a:p>
          <a:p>
            <a:pPr marL="0" indent="0">
              <a:buNone/>
            </a:pPr>
            <a:endParaRPr lang="es-ES" dirty="0"/>
          </a:p>
          <a:p>
            <a:pPr marL="285750" indent="-285750">
              <a:buFont typeface="Wingdings" charset="2"/>
              <a:buChar char="¡"/>
            </a:pPr>
            <a:r>
              <a:rPr lang="en-US" b="1" u="sng" dirty="0"/>
              <a:t>¿Por qué no usar listas o arreglos?</a:t>
            </a:r>
            <a:endParaRPr lang="es-ES" u="sng" dirty="0"/>
          </a:p>
          <a:p>
            <a:pPr marL="0" indent="0">
              <a:buNone/>
            </a:pPr>
            <a:r>
              <a:rPr lang="en-US" dirty="0"/>
              <a:t>Porque son estructuras lineales que no representan jerarquías. Para calcular rutas entre Consejos Populares habría que revisar todas las conexiones una por una (O(n)). Un árbol, en cambio, permite representar la organización territorial, y un grafo con Dijkstra calcula las rutas más cortas de forma eficiente y natural</a:t>
            </a:r>
            <a:r>
              <a:rPr lang="en-US" dirty="0" smtClean="0"/>
              <a:t>.</a:t>
            </a:r>
            <a:endParaRPr lang="es-ES" dirty="0"/>
          </a:p>
        </p:txBody>
      </p:sp>
      <p:pic>
        <p:nvPicPr>
          <p:cNvPr id="2" name="Yosbiel P2.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971600" y="764704"/>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651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1048592" name="1 CuadroTexto"/>
          <p:cNvSpPr txBox="1"/>
          <p:nvPr/>
        </p:nvSpPr>
        <p:spPr>
          <a:xfrm>
            <a:off x="971600" y="620688"/>
            <a:ext cx="7344816" cy="5844541"/>
          </a:xfrm>
          <a:prstGeom prst="rect">
            <a:avLst/>
          </a:prstGeom>
          <a:noFill/>
        </p:spPr>
        <p:txBody>
          <a:bodyPr wrap="square" rtlCol="0">
            <a:spAutoFit/>
          </a:bodyPr>
          <a:lstStyle/>
          <a:p>
            <a:pPr algn="r"/>
            <a:r>
              <a:rPr lang="en-US" sz="2800" b="1" u="sng" dirty="0" err="1">
                <a:solidFill>
                  <a:srgbClr val="00B050"/>
                </a:solidFill>
              </a:rPr>
              <a:t>Solución</a:t>
            </a:r>
            <a:r>
              <a:rPr lang="en-US" sz="2800" b="1" u="sng" dirty="0">
                <a:solidFill>
                  <a:srgbClr val="00B050"/>
                </a:solidFill>
              </a:rPr>
              <a:t> </a:t>
            </a:r>
            <a:r>
              <a:rPr lang="en-US" sz="2800" b="1" u="sng" dirty="0" err="1">
                <a:solidFill>
                  <a:srgbClr val="00B050"/>
                </a:solidFill>
              </a:rPr>
              <a:t>Propuesta</a:t>
            </a:r>
            <a:endParaRPr lang="en-US" sz="2800" b="1" u="sng" dirty="0" smtClean="0">
              <a:solidFill>
                <a:srgbClr val="00B050"/>
              </a:solidFill>
            </a:endParaRPr>
          </a:p>
          <a:p>
            <a:endParaRPr lang="en-US" dirty="0"/>
          </a:p>
          <a:p>
            <a:endParaRPr lang="en-US" dirty="0"/>
          </a:p>
          <a:p>
            <a:r>
              <a:rPr lang="es-US" altLang="en-US" b="1" dirty="0"/>
              <a:t>Árbol elegido: </a:t>
            </a:r>
            <a:r>
              <a:rPr lang="es-US" altLang="en-US" b="0" dirty="0"/>
              <a:t>Árbol General (N-ario)</a:t>
            </a:r>
            <a:endParaRPr lang="es-ES" b="0" dirty="0"/>
          </a:p>
          <a:p>
            <a:r>
              <a:rPr lang="es-US" altLang="en-US" b="1" dirty="0"/>
              <a:t>Lógica de funcionamiento:</a:t>
            </a:r>
            <a:endParaRPr lang="es-ES" dirty="0"/>
          </a:p>
          <a:p>
            <a:pPr marL="285750" indent="-285750">
              <a:buFont typeface="Wingdings" charset="2"/>
              <a:buChar char="¡"/>
            </a:pPr>
            <a:r>
              <a:rPr lang="es-US" altLang="en-US" b="0" dirty="0"/>
              <a:t>Raíz: Cuba</a:t>
            </a:r>
            <a:endParaRPr lang="es-ES" b="0" dirty="0"/>
          </a:p>
          <a:p>
            <a:pPr marL="285750" indent="-285750">
              <a:buFont typeface="Wingdings" charset="2"/>
              <a:buChar char="¡"/>
            </a:pPr>
            <a:r>
              <a:rPr lang="es-US" altLang="en-US" b="0" dirty="0"/>
              <a:t>Cada nodo puede tener múltiples hijos (primerHijo y siguienteHermano)</a:t>
            </a:r>
            <a:endParaRPr lang="es-ES" b="0" dirty="0"/>
          </a:p>
          <a:p>
            <a:pPr marL="285750" indent="-285750">
              <a:buFont typeface="Wingdings" charset="2"/>
              <a:buChar char="¡"/>
            </a:pPr>
            <a:r>
              <a:rPr lang="es-US" altLang="en-US" b="0" dirty="0"/>
              <a:t>Consejos Populares son nodos del árbol</a:t>
            </a:r>
            <a:endParaRPr lang="es-ES" b="0" dirty="0"/>
          </a:p>
          <a:p>
            <a:pPr marL="285750" indent="-285750">
              <a:buFont typeface="Wingdings" charset="2"/>
              <a:buChar char="¡"/>
            </a:pPr>
            <a:endParaRPr lang="es-ES" b="0" dirty="0"/>
          </a:p>
          <a:p>
            <a:pPr marL="0" indent="0">
              <a:buNone/>
            </a:pPr>
            <a:r>
              <a:rPr lang="es-US" altLang="en-US" b="1" dirty="0"/>
              <a:t>Grafo elegido: </a:t>
            </a:r>
            <a:r>
              <a:rPr lang="es-US" altLang="en-US" b="0" dirty="0"/>
              <a:t>No dirigido y ponderado</a:t>
            </a:r>
            <a:endParaRPr lang="es-ES" b="0" dirty="0"/>
          </a:p>
          <a:p>
            <a:r>
              <a:rPr lang="es-US" altLang="en-US" b="1" dirty="0"/>
              <a:t>Lógica de funcionamiento:</a:t>
            </a:r>
            <a:endParaRPr lang="es-ES" dirty="0"/>
          </a:p>
          <a:p>
            <a:pPr marL="285750" indent="-285750">
              <a:buFont typeface="Wingdings" charset="2"/>
              <a:buChar char="¡"/>
            </a:pPr>
            <a:r>
              <a:rPr lang="es-US" altLang="en-US" b="0" dirty="0"/>
              <a:t>Vértices: Consejos Populares</a:t>
            </a:r>
            <a:endParaRPr lang="es-ES" b="0" dirty="0"/>
          </a:p>
          <a:p>
            <a:pPr marL="285750" indent="-285750">
              <a:buFont typeface="Wingdings" charset="2"/>
              <a:buChar char="¡"/>
            </a:pPr>
            <a:r>
              <a:rPr lang="es-US" altLang="en-US" b="0" dirty="0"/>
              <a:t>Aristas: rutas con distancias en km</a:t>
            </a:r>
            <a:endParaRPr lang="es-ES" b="0" dirty="0"/>
          </a:p>
          <a:p>
            <a:pPr marL="285750" indent="-285750">
              <a:buFont typeface="Wingdings" charset="2"/>
              <a:buChar char="¡"/>
            </a:pPr>
            <a:r>
              <a:rPr lang="es-US" altLang="en-US" b="0" dirty="0"/>
              <a:t>Dijkstra calcula ruta mínima y camino completo</a:t>
            </a:r>
            <a:endParaRPr lang="es-ES" b="0" dirty="0"/>
          </a:p>
          <a:p>
            <a:pPr marL="285750" indent="-285750">
              <a:buFont typeface="Wingdings" charset="2"/>
              <a:buChar char="¡"/>
            </a:pPr>
            <a:endParaRPr lang="es-ES" b="0" dirty="0"/>
          </a:p>
          <a:p>
            <a:r>
              <a:rPr lang="es-US" altLang="en-US" b="1" dirty="0"/>
              <a:t>Operaciones implementadas:</a:t>
            </a:r>
            <a:endParaRPr lang="es-ES" dirty="0"/>
          </a:p>
          <a:p>
            <a:pPr marL="285750" indent="-285750">
              <a:buFont typeface="Wingdings" charset="2"/>
              <a:buChar char="¡"/>
            </a:pPr>
            <a:r>
              <a:rPr lang="es-US" altLang="en-US" b="0" dirty="0"/>
              <a:t>Inserción (árbol y grafo)</a:t>
            </a:r>
            <a:endParaRPr lang="es-ES" b="0" dirty="0"/>
          </a:p>
          <a:p>
            <a:pPr marL="285750" indent="-285750">
              <a:buFont typeface="Wingdings" charset="2"/>
              <a:buChar char="¡"/>
            </a:pPr>
            <a:r>
              <a:rPr lang="es-US" altLang="en-US" b="0" dirty="0"/>
              <a:t>Búsqueda en árbol</a:t>
            </a:r>
            <a:endParaRPr lang="es-ES" b="0" dirty="0"/>
          </a:p>
          <a:p>
            <a:pPr marL="285750" indent="-285750">
              <a:buFont typeface="Wingdings" charset="2"/>
              <a:buChar char="¡"/>
            </a:pPr>
            <a:r>
              <a:rPr lang="es-US" altLang="en-US" b="0" dirty="0"/>
              <a:t>BFS / DFS (ambas estructuras)</a:t>
            </a:r>
            <a:endParaRPr lang="es-ES" b="0" dirty="0"/>
          </a:p>
          <a:p>
            <a:pPr marL="285750" indent="-285750">
              <a:buFont typeface="Wingdings" charset="2"/>
              <a:buChar char="¡"/>
            </a:pPr>
            <a:r>
              <a:rPr lang="es-US" altLang="en-US" b="0" dirty="0"/>
              <a:t>Dijkstra con ruta</a:t>
            </a:r>
            <a:endParaRPr lang="es-ES" b="0" dirty="0"/>
          </a:p>
        </p:txBody>
      </p:sp>
      <p:pic>
        <p:nvPicPr>
          <p:cNvPr id="2" name="Yosbiel P3.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43608" y="836712"/>
            <a:ext cx="609600" cy="609600"/>
          </a:xfrm>
          <a:prstGeom prst="rect">
            <a:avLst/>
          </a:prstGeom>
        </p:spPr>
      </p:pic>
      <p:sp>
        <p:nvSpPr>
          <p:cNvPr id="4" name="1 CuadroTexto"/>
          <p:cNvSpPr txBox="1"/>
          <p:nvPr/>
        </p:nvSpPr>
        <p:spPr>
          <a:xfrm>
            <a:off x="971600" y="620687"/>
            <a:ext cx="7344816" cy="5844541"/>
          </a:xfrm>
          <a:prstGeom prst="rect">
            <a:avLst/>
          </a:prstGeom>
          <a:noFill/>
        </p:spPr>
        <p:txBody>
          <a:bodyPr wrap="square" rtlCol="0">
            <a:spAutoFit/>
          </a:bodyPr>
          <a:lstStyle/>
          <a:p>
            <a:pPr algn="r"/>
            <a:r>
              <a:rPr lang="en-US" sz="2800" b="1" u="sng" dirty="0" err="1">
                <a:solidFill>
                  <a:srgbClr val="00B050"/>
                </a:solidFill>
              </a:rPr>
              <a:t>Solución</a:t>
            </a:r>
            <a:r>
              <a:rPr lang="en-US" sz="2800" b="1" u="sng" dirty="0">
                <a:solidFill>
                  <a:srgbClr val="00B050"/>
                </a:solidFill>
              </a:rPr>
              <a:t> </a:t>
            </a:r>
            <a:r>
              <a:rPr lang="en-US" sz="2800" b="1" u="sng" dirty="0" err="1">
                <a:solidFill>
                  <a:srgbClr val="00B050"/>
                </a:solidFill>
              </a:rPr>
              <a:t>Propuesta</a:t>
            </a:r>
            <a:endParaRPr lang="en-US" sz="2800" b="1" u="sng" dirty="0" smtClean="0">
              <a:solidFill>
                <a:srgbClr val="00B050"/>
              </a:solidFill>
            </a:endParaRPr>
          </a:p>
          <a:p>
            <a:endParaRPr lang="en-US" dirty="0"/>
          </a:p>
          <a:p>
            <a:endParaRPr lang="en-US" dirty="0"/>
          </a:p>
          <a:p>
            <a:r>
              <a:rPr lang="es-US" altLang="en-US" b="1" u="sng" dirty="0"/>
              <a:t>Árbol elegido: </a:t>
            </a:r>
            <a:r>
              <a:rPr lang="es-US" altLang="en-US" b="0" dirty="0"/>
              <a:t>Árbol General (N-ario)</a:t>
            </a:r>
            <a:endParaRPr lang="es-ES" b="0" dirty="0"/>
          </a:p>
          <a:p>
            <a:r>
              <a:rPr lang="es-US" altLang="en-US" b="1" u="sng" dirty="0"/>
              <a:t>Lógica de funcionamiento:</a:t>
            </a:r>
            <a:endParaRPr lang="es-ES" u="sng" dirty="0"/>
          </a:p>
          <a:p>
            <a:pPr marL="285750" indent="-285750">
              <a:buFont typeface="Wingdings" charset="2"/>
              <a:buChar char="¡"/>
            </a:pPr>
            <a:r>
              <a:rPr lang="es-US" altLang="en-US" b="0" dirty="0"/>
              <a:t>Raíz: Cuba</a:t>
            </a:r>
            <a:endParaRPr lang="es-ES" b="0" dirty="0"/>
          </a:p>
          <a:p>
            <a:pPr marL="285750" indent="-285750">
              <a:buFont typeface="Wingdings" charset="2"/>
              <a:buChar char="¡"/>
            </a:pPr>
            <a:r>
              <a:rPr lang="es-US" altLang="en-US" b="0" dirty="0"/>
              <a:t>Cada nodo puede tener múltiples hijos (primerHijo y siguienteHermano)</a:t>
            </a:r>
            <a:endParaRPr lang="es-ES" b="0" dirty="0"/>
          </a:p>
          <a:p>
            <a:pPr marL="285750" indent="-285750">
              <a:buFont typeface="Wingdings" charset="2"/>
              <a:buChar char="¡"/>
            </a:pPr>
            <a:r>
              <a:rPr lang="es-US" altLang="en-US" b="0" dirty="0"/>
              <a:t>Consejos Populares son nodos del árbol</a:t>
            </a:r>
            <a:endParaRPr lang="es-ES" b="0" dirty="0"/>
          </a:p>
          <a:p>
            <a:pPr marL="285750" indent="-285750">
              <a:buFont typeface="Wingdings" charset="2"/>
              <a:buChar char="¡"/>
            </a:pPr>
            <a:endParaRPr lang="es-ES" b="0" dirty="0"/>
          </a:p>
          <a:p>
            <a:pPr marL="0" indent="0">
              <a:buNone/>
            </a:pPr>
            <a:r>
              <a:rPr lang="es-US" altLang="en-US" b="1" u="sng" dirty="0"/>
              <a:t>Grafo elegido: </a:t>
            </a:r>
            <a:r>
              <a:rPr lang="es-US" altLang="en-US" b="0" dirty="0"/>
              <a:t>No dirigido y ponderado</a:t>
            </a:r>
            <a:endParaRPr lang="es-ES" b="0" dirty="0"/>
          </a:p>
          <a:p>
            <a:r>
              <a:rPr lang="es-US" altLang="en-US" b="1" u="sng" dirty="0"/>
              <a:t>Lógica de funcionamiento:</a:t>
            </a:r>
            <a:endParaRPr lang="es-ES" u="sng" dirty="0"/>
          </a:p>
          <a:p>
            <a:pPr marL="285750" indent="-285750">
              <a:buFont typeface="Wingdings" charset="2"/>
              <a:buChar char="¡"/>
            </a:pPr>
            <a:r>
              <a:rPr lang="es-US" altLang="en-US" b="0" dirty="0"/>
              <a:t>Vértices: Consejos Populares</a:t>
            </a:r>
            <a:endParaRPr lang="es-ES" b="0" dirty="0"/>
          </a:p>
          <a:p>
            <a:pPr marL="285750" indent="-285750">
              <a:buFont typeface="Wingdings" charset="2"/>
              <a:buChar char="¡"/>
            </a:pPr>
            <a:r>
              <a:rPr lang="es-US" altLang="en-US" b="0" dirty="0"/>
              <a:t>Aristas: rutas con distancias en km</a:t>
            </a:r>
            <a:endParaRPr lang="es-ES" b="0" dirty="0"/>
          </a:p>
          <a:p>
            <a:pPr marL="285750" indent="-285750">
              <a:buFont typeface="Wingdings" charset="2"/>
              <a:buChar char="¡"/>
            </a:pPr>
            <a:r>
              <a:rPr lang="es-US" altLang="en-US" b="0" dirty="0"/>
              <a:t>Dijkstra calcula ruta mínima y camino completo</a:t>
            </a:r>
            <a:endParaRPr lang="es-ES" b="0" dirty="0"/>
          </a:p>
          <a:p>
            <a:pPr marL="285750" indent="-285750">
              <a:buFont typeface="Wingdings" charset="2"/>
              <a:buChar char="¡"/>
            </a:pPr>
            <a:endParaRPr lang="es-ES" b="0" dirty="0"/>
          </a:p>
          <a:p>
            <a:r>
              <a:rPr lang="es-US" altLang="en-US" b="1" u="sng" dirty="0"/>
              <a:t>Operaciones implementadas:</a:t>
            </a:r>
            <a:endParaRPr lang="es-ES" u="sng" dirty="0"/>
          </a:p>
          <a:p>
            <a:pPr marL="285750" indent="-285750">
              <a:buFont typeface="Wingdings" charset="2"/>
              <a:buChar char="¡"/>
            </a:pPr>
            <a:r>
              <a:rPr lang="es-US" altLang="en-US" b="0" dirty="0"/>
              <a:t>Inserción (árbol y grafo)</a:t>
            </a:r>
            <a:endParaRPr lang="es-ES" b="0" dirty="0"/>
          </a:p>
          <a:p>
            <a:pPr marL="285750" indent="-285750">
              <a:buFont typeface="Wingdings" charset="2"/>
              <a:buChar char="¡"/>
            </a:pPr>
            <a:r>
              <a:rPr lang="es-US" altLang="en-US" b="0" dirty="0"/>
              <a:t>Búsqueda en árbol</a:t>
            </a:r>
            <a:endParaRPr lang="es-ES" b="0" dirty="0"/>
          </a:p>
          <a:p>
            <a:pPr marL="285750" indent="-285750">
              <a:buFont typeface="Wingdings" charset="2"/>
              <a:buChar char="¡"/>
            </a:pPr>
            <a:r>
              <a:rPr lang="es-US" altLang="en-US" b="0" dirty="0"/>
              <a:t>BFS / DFS (ambas estructuras)</a:t>
            </a:r>
            <a:endParaRPr lang="es-ES" b="0" dirty="0"/>
          </a:p>
          <a:p>
            <a:pPr marL="285750" indent="-285750">
              <a:buFont typeface="Wingdings" charset="2"/>
              <a:buChar char="¡"/>
            </a:pPr>
            <a:r>
              <a:rPr lang="es-US" altLang="en-US" b="0" dirty="0"/>
              <a:t>Dijkstra con ruta</a:t>
            </a:r>
            <a:endParaRPr lang="es-ES" b="0" dirty="0"/>
          </a:p>
        </p:txBody>
      </p:sp>
    </p:spTree>
  </p:cSld>
  <p:clrMapOvr>
    <a:masterClrMapping/>
  </p:clrMapOvr>
  <mc:AlternateContent xmlns:mc="http://schemas.openxmlformats.org/markup-compatibility/2006">
    <mc:Choice xmlns:p14="http://schemas.microsoft.com/office/powerpoint/2010/main" Requires="p14">
      <p:transition spd="slow" p14:dur="1600">
        <p14:conveyor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781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1048588" name="1 CuadroTexto"/>
          <p:cNvSpPr txBox="1"/>
          <p:nvPr/>
        </p:nvSpPr>
        <p:spPr>
          <a:xfrm>
            <a:off x="971600" y="620688"/>
            <a:ext cx="7344816" cy="523220"/>
          </a:xfrm>
          <a:prstGeom prst="rect">
            <a:avLst/>
          </a:prstGeom>
          <a:noFill/>
        </p:spPr>
        <p:txBody>
          <a:bodyPr wrap="square" rtlCol="0">
            <a:spAutoFit/>
          </a:bodyPr>
          <a:lstStyle/>
          <a:p>
            <a:pPr algn="r"/>
            <a:r>
              <a:rPr lang="en-US" sz="2800" b="1" u="sng" dirty="0" err="1" smtClean="0">
                <a:solidFill>
                  <a:srgbClr val="00B050"/>
                </a:solidFill>
              </a:rPr>
              <a:t>Estructura Base</a:t>
            </a:r>
            <a:endParaRPr lang="en-US" b="1" u="sng" dirty="0" smtClean="0">
              <a:solidFill>
                <a:srgbClr val="00B050"/>
              </a:solidFill>
            </a:endParaRPr>
          </a:p>
        </p:txBody>
      </p:sp>
      <p:sp>
        <p:nvSpPr>
          <p:cNvPr id="1048589" name="1048588 CuadroTexto"/>
          <p:cNvSpPr txBox="1"/>
          <p:nvPr/>
        </p:nvSpPr>
        <p:spPr>
          <a:xfrm>
            <a:off x="644007" y="1997775"/>
            <a:ext cx="4000000" cy="954107"/>
          </a:xfrm>
          <a:prstGeom prst="rect">
            <a:avLst/>
          </a:prstGeom>
        </p:spPr>
        <p:txBody>
          <a:bodyPr wrap="square" rtlCol="0">
            <a:spAutoFit/>
          </a:bodyPr>
          <a:lstStyle/>
          <a:p>
            <a:r>
              <a:rPr lang="en-US" sz="1400" b="1" u="sng" dirty="0" err="1">
                <a:solidFill>
                  <a:srgbClr val="000000"/>
                </a:solidFill>
              </a:rPr>
              <a:t>NodoGeneral</a:t>
            </a:r>
            <a:endParaRPr lang="es-US" sz="1400" b="1" u="sng" dirty="0">
              <a:solidFill>
                <a:srgbClr val="000000"/>
              </a:solidFill>
            </a:endParaRPr>
          </a:p>
          <a:p>
            <a:r>
              <a:rPr lang="en-US" sz="1400" b="0" dirty="0" err="1">
                <a:solidFill>
                  <a:srgbClr val="000000"/>
                </a:solidFill>
              </a:rPr>
              <a:t>Nodo</a:t>
            </a:r>
            <a:r>
              <a:rPr lang="en-US" sz="1400" b="0" dirty="0">
                <a:solidFill>
                  <a:srgbClr val="000000"/>
                </a:solidFill>
              </a:rPr>
              <a:t> del árbol. </a:t>
            </a:r>
            <a:r>
              <a:rPr lang="en-US" sz="1400" b="0" dirty="0" err="1">
                <a:solidFill>
                  <a:srgbClr val="000000"/>
                </a:solidFill>
              </a:rPr>
              <a:t>Atributos</a:t>
            </a:r>
            <a:r>
              <a:rPr lang="en-US" sz="1400" b="0" dirty="0">
                <a:solidFill>
                  <a:srgbClr val="000000"/>
                </a:solidFill>
              </a:rPr>
              <a:t>: info, </a:t>
            </a:r>
            <a:r>
              <a:rPr lang="en-US" sz="1400" b="0" dirty="0" err="1">
                <a:solidFill>
                  <a:srgbClr val="000000"/>
                </a:solidFill>
              </a:rPr>
              <a:t>primerHijo</a:t>
            </a:r>
            <a:r>
              <a:rPr lang="en-US" sz="1400" b="0" dirty="0">
                <a:solidFill>
                  <a:srgbClr val="000000"/>
                </a:solidFill>
              </a:rPr>
              <a:t>, </a:t>
            </a:r>
            <a:r>
              <a:rPr lang="en-US" sz="1400" b="0" dirty="0" err="1">
                <a:solidFill>
                  <a:srgbClr val="000000"/>
                </a:solidFill>
              </a:rPr>
              <a:t>siguienteHermano</a:t>
            </a:r>
            <a:r>
              <a:rPr lang="en-US" sz="1400" b="0" dirty="0">
                <a:solidFill>
                  <a:srgbClr val="000000"/>
                </a:solidFill>
              </a:rPr>
              <a:t>. </a:t>
            </a:r>
            <a:r>
              <a:rPr lang="en-US" sz="1400" b="0" dirty="0" err="1">
                <a:solidFill>
                  <a:srgbClr val="000000"/>
                </a:solidFill>
              </a:rPr>
              <a:t>Permite</a:t>
            </a:r>
            <a:r>
              <a:rPr lang="en-US" sz="1400" b="0" dirty="0">
                <a:solidFill>
                  <a:srgbClr val="000000"/>
                </a:solidFill>
              </a:rPr>
              <a:t> </a:t>
            </a:r>
            <a:r>
              <a:rPr lang="en-US" sz="1400" b="0" dirty="0" err="1">
                <a:solidFill>
                  <a:srgbClr val="000000"/>
                </a:solidFill>
              </a:rPr>
              <a:t>múltiples</a:t>
            </a:r>
            <a:r>
              <a:rPr lang="en-US" sz="1400" b="0" dirty="0">
                <a:solidFill>
                  <a:srgbClr val="000000"/>
                </a:solidFill>
              </a:rPr>
              <a:t> </a:t>
            </a:r>
            <a:r>
              <a:rPr lang="en-US" sz="1400" b="0" dirty="0" err="1">
                <a:solidFill>
                  <a:srgbClr val="000000"/>
                </a:solidFill>
              </a:rPr>
              <a:t>hijos</a:t>
            </a:r>
            <a:r>
              <a:rPr lang="en-US" sz="1400" b="0" dirty="0">
                <a:solidFill>
                  <a:srgbClr val="000000"/>
                </a:solidFill>
              </a:rPr>
              <a:t>. </a:t>
            </a:r>
            <a:r>
              <a:rPr lang="en-US" sz="1400" b="0" dirty="0" err="1">
                <a:solidFill>
                  <a:srgbClr val="000000"/>
                </a:solidFill>
              </a:rPr>
              <a:t>Representa</a:t>
            </a:r>
            <a:r>
              <a:rPr lang="en-US" sz="1400" b="0" dirty="0">
                <a:solidFill>
                  <a:srgbClr val="000000"/>
                </a:solidFill>
              </a:rPr>
              <a:t> </a:t>
            </a:r>
            <a:r>
              <a:rPr lang="en-US" sz="1400" b="0" dirty="0" err="1">
                <a:solidFill>
                  <a:srgbClr val="000000"/>
                </a:solidFill>
              </a:rPr>
              <a:t>cada</a:t>
            </a:r>
            <a:r>
              <a:rPr lang="en-US" sz="1400" b="0" dirty="0">
                <a:solidFill>
                  <a:srgbClr val="000000"/>
                </a:solidFill>
              </a:rPr>
              <a:t> </a:t>
            </a:r>
            <a:r>
              <a:rPr lang="en-US" sz="1400" b="0" dirty="0" err="1">
                <a:solidFill>
                  <a:srgbClr val="000000"/>
                </a:solidFill>
              </a:rPr>
              <a:t>nivel</a:t>
            </a:r>
            <a:r>
              <a:rPr lang="en-US" sz="1400" b="0" dirty="0">
                <a:solidFill>
                  <a:srgbClr val="000000"/>
                </a:solidFill>
              </a:rPr>
              <a:t> </a:t>
            </a:r>
            <a:r>
              <a:rPr lang="en-US" sz="1400" b="0" dirty="0" err="1">
                <a:solidFill>
                  <a:srgbClr val="000000"/>
                </a:solidFill>
              </a:rPr>
              <a:t>jerárquico</a:t>
            </a:r>
            <a:r>
              <a:rPr lang="en-US" sz="1400" b="0" dirty="0">
                <a:solidFill>
                  <a:srgbClr val="000000"/>
                </a:solidFill>
              </a:rPr>
              <a:t> del territorio.</a:t>
            </a:r>
            <a:endParaRPr lang="es-US" sz="1400" b="0" dirty="0">
              <a:solidFill>
                <a:srgbClr val="000000"/>
              </a:solidFill>
            </a:endParaRPr>
          </a:p>
        </p:txBody>
      </p:sp>
      <p:pic>
        <p:nvPicPr>
          <p:cNvPr id="2097154" name="2097153 Imagen"/>
          <p:cNvPicPr>
            <a:picLocks/>
          </p:cNvPicPr>
          <p:nvPr/>
        </p:nvPicPr>
        <p:blipFill>
          <a:blip r:embed="rId5"/>
          <a:srcRect l="4412" r="4412"/>
          <a:stretch>
            <a:fillRect/>
          </a:stretch>
        </p:blipFill>
        <p:spPr>
          <a:xfrm>
            <a:off x="4414705" y="1239517"/>
            <a:ext cx="3759814" cy="2136908"/>
          </a:xfrm>
          <a:prstGeom prst="rect">
            <a:avLst/>
          </a:prstGeom>
        </p:spPr>
      </p:pic>
      <p:sp>
        <p:nvSpPr>
          <p:cNvPr id="1048590" name="1048589 CuadroTexto"/>
          <p:cNvSpPr txBox="1"/>
          <p:nvPr/>
        </p:nvSpPr>
        <p:spPr>
          <a:xfrm>
            <a:off x="4294612" y="3661738"/>
            <a:ext cx="4000000" cy="738664"/>
          </a:xfrm>
          <a:prstGeom prst="rect">
            <a:avLst/>
          </a:prstGeom>
        </p:spPr>
        <p:txBody>
          <a:bodyPr wrap="square" rtlCol="0">
            <a:spAutoFit/>
          </a:bodyPr>
          <a:lstStyle/>
          <a:p>
            <a:r>
              <a:rPr lang="en-US" sz="1400" b="1" u="sng" dirty="0" err="1">
                <a:solidFill>
                  <a:srgbClr val="000000"/>
                </a:solidFill>
              </a:rPr>
              <a:t>AgregarHijo</a:t>
            </a:r>
            <a:endParaRPr lang="es-US" sz="1400" b="1" u="sng" dirty="0">
              <a:solidFill>
                <a:srgbClr val="000000"/>
              </a:solidFill>
            </a:endParaRPr>
          </a:p>
          <a:p>
            <a:r>
              <a:rPr lang="en-US" sz="1400" dirty="0" err="1">
                <a:solidFill>
                  <a:srgbClr val="000000"/>
                </a:solidFill>
              </a:rPr>
              <a:t>Inserta</a:t>
            </a:r>
            <a:r>
              <a:rPr lang="en-US" sz="1400" dirty="0">
                <a:solidFill>
                  <a:srgbClr val="000000"/>
                </a:solidFill>
              </a:rPr>
              <a:t> un </a:t>
            </a:r>
            <a:r>
              <a:rPr lang="en-US" sz="1400" dirty="0" err="1">
                <a:solidFill>
                  <a:srgbClr val="000000"/>
                </a:solidFill>
              </a:rPr>
              <a:t>nodo</a:t>
            </a:r>
            <a:r>
              <a:rPr lang="en-US" sz="1400" dirty="0">
                <a:solidFill>
                  <a:srgbClr val="000000"/>
                </a:solidFill>
              </a:rPr>
              <a:t> </a:t>
            </a:r>
            <a:r>
              <a:rPr lang="en-US" sz="1400" dirty="0" err="1">
                <a:solidFill>
                  <a:srgbClr val="000000"/>
                </a:solidFill>
              </a:rPr>
              <a:t>como</a:t>
            </a:r>
            <a:r>
              <a:rPr lang="en-US" sz="1400" dirty="0">
                <a:solidFill>
                  <a:srgbClr val="000000"/>
                </a:solidFill>
              </a:rPr>
              <a:t> </a:t>
            </a:r>
            <a:r>
              <a:rPr lang="en-US" sz="1400" dirty="0" err="1">
                <a:solidFill>
                  <a:srgbClr val="000000"/>
                </a:solidFill>
              </a:rPr>
              <a:t>hijo</a:t>
            </a:r>
            <a:r>
              <a:rPr lang="en-US" sz="1400" dirty="0">
                <a:solidFill>
                  <a:srgbClr val="000000"/>
                </a:solidFill>
              </a:rPr>
              <a:t>. </a:t>
            </a:r>
            <a:r>
              <a:rPr lang="en-US" sz="1400" dirty="0" err="1">
                <a:solidFill>
                  <a:srgbClr val="000000"/>
                </a:solidFill>
              </a:rPr>
              <a:t>Recorre</a:t>
            </a:r>
            <a:r>
              <a:rPr lang="en-US" sz="1400" dirty="0">
                <a:solidFill>
                  <a:srgbClr val="000000"/>
                </a:solidFill>
              </a:rPr>
              <a:t> </a:t>
            </a:r>
            <a:r>
              <a:rPr lang="en-US" sz="1400" dirty="0" err="1">
                <a:solidFill>
                  <a:srgbClr val="000000"/>
                </a:solidFill>
              </a:rPr>
              <a:t>hermanos</a:t>
            </a:r>
            <a:r>
              <a:rPr lang="en-US" sz="1400" dirty="0">
                <a:solidFill>
                  <a:srgbClr val="000000"/>
                </a:solidFill>
              </a:rPr>
              <a:t> y </a:t>
            </a:r>
            <a:r>
              <a:rPr lang="en-US" sz="1400" dirty="0" err="1">
                <a:solidFill>
                  <a:srgbClr val="000000"/>
                </a:solidFill>
              </a:rPr>
              <a:t>enlaza</a:t>
            </a:r>
            <a:r>
              <a:rPr lang="en-US" sz="1400" dirty="0">
                <a:solidFill>
                  <a:srgbClr val="000000"/>
                </a:solidFill>
              </a:rPr>
              <a:t> al final.</a:t>
            </a:r>
            <a:endParaRPr lang="es-US" sz="1400" dirty="0">
              <a:solidFill>
                <a:srgbClr val="000000"/>
              </a:solidFill>
            </a:endParaRPr>
          </a:p>
        </p:txBody>
      </p:sp>
      <p:pic>
        <p:nvPicPr>
          <p:cNvPr id="2097155" name="2097154 Imagen"/>
          <p:cNvPicPr>
            <a:picLocks/>
          </p:cNvPicPr>
          <p:nvPr/>
        </p:nvPicPr>
        <p:blipFill>
          <a:blip r:embed="rId6"/>
          <a:srcRect l="270" r="270"/>
          <a:stretch>
            <a:fillRect/>
          </a:stretch>
        </p:blipFill>
        <p:spPr>
          <a:xfrm>
            <a:off x="414703" y="3054964"/>
            <a:ext cx="3262985" cy="2046476"/>
          </a:xfrm>
          <a:prstGeom prst="rect">
            <a:avLst/>
          </a:prstGeom>
        </p:spPr>
      </p:pic>
      <p:sp>
        <p:nvSpPr>
          <p:cNvPr id="1048591" name="1048590 CuadroTexto"/>
          <p:cNvSpPr txBox="1"/>
          <p:nvPr/>
        </p:nvSpPr>
        <p:spPr>
          <a:xfrm>
            <a:off x="644006" y="5254390"/>
            <a:ext cx="3494126" cy="738664"/>
          </a:xfrm>
          <a:prstGeom prst="rect">
            <a:avLst/>
          </a:prstGeom>
        </p:spPr>
        <p:txBody>
          <a:bodyPr wrap="square" rtlCol="0">
            <a:spAutoFit/>
          </a:bodyPr>
          <a:lstStyle/>
          <a:p>
            <a:r>
              <a:rPr lang="en-US" sz="1400" b="1" u="sng" dirty="0" err="1">
                <a:solidFill>
                  <a:srgbClr val="000000"/>
                </a:solidFill>
              </a:rPr>
              <a:t>AgregarArista</a:t>
            </a:r>
            <a:endParaRPr lang="es-US" sz="1400" b="1" u="sng" dirty="0">
              <a:solidFill>
                <a:srgbClr val="000000"/>
              </a:solidFill>
            </a:endParaRPr>
          </a:p>
          <a:p>
            <a:r>
              <a:rPr lang="en-US" sz="1400" dirty="0" err="1">
                <a:solidFill>
                  <a:srgbClr val="000000"/>
                </a:solidFill>
              </a:rPr>
              <a:t>Agrega</a:t>
            </a:r>
            <a:r>
              <a:rPr lang="en-US" sz="1400" dirty="0">
                <a:solidFill>
                  <a:srgbClr val="000000"/>
                </a:solidFill>
              </a:rPr>
              <a:t> </a:t>
            </a:r>
            <a:r>
              <a:rPr lang="en-US" sz="1400" dirty="0" err="1">
                <a:solidFill>
                  <a:srgbClr val="000000"/>
                </a:solidFill>
              </a:rPr>
              <a:t>conexión</a:t>
            </a:r>
            <a:r>
              <a:rPr lang="en-US" sz="1400" dirty="0">
                <a:solidFill>
                  <a:srgbClr val="000000"/>
                </a:solidFill>
              </a:rPr>
              <a:t> entre dos </a:t>
            </a:r>
            <a:r>
              <a:rPr lang="en-US" sz="1400" dirty="0" err="1">
                <a:solidFill>
                  <a:srgbClr val="000000"/>
                </a:solidFill>
              </a:rPr>
              <a:t>vértices</a:t>
            </a:r>
            <a:r>
              <a:rPr lang="en-US" sz="1400" dirty="0">
                <a:solidFill>
                  <a:srgbClr val="000000"/>
                </a:solidFill>
              </a:rPr>
              <a:t>. Como </a:t>
            </a:r>
            <a:r>
              <a:rPr lang="en-US" sz="1400" dirty="0" err="1">
                <a:solidFill>
                  <a:srgbClr val="000000"/>
                </a:solidFill>
              </a:rPr>
              <a:t>es</a:t>
            </a:r>
            <a:r>
              <a:rPr lang="en-US" sz="1400" dirty="0">
                <a:solidFill>
                  <a:srgbClr val="000000"/>
                </a:solidFill>
              </a:rPr>
              <a:t> no dirigido, se </a:t>
            </a:r>
            <a:r>
              <a:rPr lang="en-US" sz="1400" dirty="0" err="1">
                <a:solidFill>
                  <a:srgbClr val="000000"/>
                </a:solidFill>
              </a:rPr>
              <a:t>agrega</a:t>
            </a:r>
            <a:r>
              <a:rPr lang="en-US" sz="1400" dirty="0">
                <a:solidFill>
                  <a:srgbClr val="000000"/>
                </a:solidFill>
              </a:rPr>
              <a:t> en </a:t>
            </a:r>
            <a:r>
              <a:rPr lang="en-US" sz="1400" dirty="0" err="1">
                <a:solidFill>
                  <a:srgbClr val="000000"/>
                </a:solidFill>
              </a:rPr>
              <a:t>ambas</a:t>
            </a:r>
            <a:r>
              <a:rPr lang="en-US" sz="1400" dirty="0">
                <a:solidFill>
                  <a:srgbClr val="000000"/>
                </a:solidFill>
              </a:rPr>
              <a:t> </a:t>
            </a:r>
            <a:r>
              <a:rPr lang="en-US" sz="1400" dirty="0" err="1">
                <a:solidFill>
                  <a:srgbClr val="000000"/>
                </a:solidFill>
              </a:rPr>
              <a:t>direcciones</a:t>
            </a:r>
            <a:r>
              <a:rPr lang="en-US" sz="1400" dirty="0">
                <a:solidFill>
                  <a:srgbClr val="000000"/>
                </a:solidFill>
              </a:rPr>
              <a:t>.</a:t>
            </a:r>
            <a:endParaRPr lang="es-US" sz="1400" dirty="0">
              <a:solidFill>
                <a:srgbClr val="000000"/>
              </a:solidFill>
            </a:endParaRPr>
          </a:p>
        </p:txBody>
      </p:sp>
      <p:pic>
        <p:nvPicPr>
          <p:cNvPr id="2097156" name="2097155 Imagen"/>
          <p:cNvPicPr>
            <a:picLocks/>
          </p:cNvPicPr>
          <p:nvPr/>
        </p:nvPicPr>
        <p:blipFill>
          <a:blip r:embed="rId7"/>
          <a:srcRect t="3749" b="3749"/>
          <a:stretch>
            <a:fillRect/>
          </a:stretch>
        </p:blipFill>
        <p:spPr>
          <a:xfrm>
            <a:off x="4414704" y="4362779"/>
            <a:ext cx="3262985" cy="2106114"/>
          </a:xfrm>
          <a:prstGeom prst="rect">
            <a:avLst/>
          </a:prstGeom>
        </p:spPr>
      </p:pic>
      <p:pic>
        <p:nvPicPr>
          <p:cNvPr id="2" name="Yosbiel P4.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966671" y="534308"/>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p14:prism isContent="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924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1048585" name="1 CuadroTexto"/>
          <p:cNvSpPr txBox="1"/>
          <p:nvPr/>
        </p:nvSpPr>
        <p:spPr>
          <a:xfrm>
            <a:off x="971600" y="620688"/>
            <a:ext cx="7344816" cy="523220"/>
          </a:xfrm>
          <a:prstGeom prst="rect">
            <a:avLst/>
          </a:prstGeom>
          <a:noFill/>
        </p:spPr>
        <p:txBody>
          <a:bodyPr wrap="square" rtlCol="0">
            <a:spAutoFit/>
          </a:bodyPr>
          <a:lstStyle/>
          <a:p>
            <a:pPr algn="r"/>
            <a:r>
              <a:rPr lang="en-US" sz="2800" b="1" u="sng" dirty="0" err="1" smtClean="0">
                <a:solidFill>
                  <a:srgbClr val="00B050"/>
                </a:solidFill>
              </a:rPr>
              <a:t>Lógica del Caso</a:t>
            </a:r>
            <a:endParaRPr lang="en-US" b="1" u="sng" dirty="0" smtClean="0">
              <a:solidFill>
                <a:srgbClr val="00B050"/>
              </a:solidFill>
            </a:endParaRPr>
          </a:p>
        </p:txBody>
      </p:sp>
      <p:sp>
        <p:nvSpPr>
          <p:cNvPr id="1048586" name="1048585 CuadroTexto"/>
          <p:cNvSpPr txBox="1"/>
          <p:nvPr/>
        </p:nvSpPr>
        <p:spPr>
          <a:xfrm>
            <a:off x="725650" y="2021023"/>
            <a:ext cx="3237661" cy="954107"/>
          </a:xfrm>
          <a:prstGeom prst="rect">
            <a:avLst/>
          </a:prstGeom>
        </p:spPr>
        <p:txBody>
          <a:bodyPr wrap="square" rtlCol="0">
            <a:spAutoFit/>
          </a:bodyPr>
          <a:lstStyle/>
          <a:p>
            <a:r>
              <a:rPr lang="en-US" sz="1400" b="1" u="sng" dirty="0" err="1" smtClean="0">
                <a:solidFill>
                  <a:srgbClr val="000000"/>
                </a:solidFill>
              </a:rPr>
              <a:t>InicializarArbol</a:t>
            </a:r>
            <a:endParaRPr lang="es-US" sz="1400" b="1" u="sng" dirty="0">
              <a:solidFill>
                <a:srgbClr val="000000"/>
              </a:solidFill>
            </a:endParaRPr>
          </a:p>
          <a:p>
            <a:r>
              <a:rPr lang="en-US" sz="1400" dirty="0" err="1">
                <a:solidFill>
                  <a:srgbClr val="000000"/>
                </a:solidFill>
              </a:rPr>
              <a:t>Construye</a:t>
            </a:r>
            <a:r>
              <a:rPr lang="en-US" sz="1400" dirty="0">
                <a:solidFill>
                  <a:srgbClr val="000000"/>
                </a:solidFill>
              </a:rPr>
              <a:t> la jerarquía: Cuba → Pinar del Río → Guane → 8 Consejos Populares con </a:t>
            </a:r>
            <a:r>
              <a:rPr lang="en-US" sz="1400" dirty="0" err="1">
                <a:solidFill>
                  <a:srgbClr val="000000"/>
                </a:solidFill>
              </a:rPr>
              <a:t>datos</a:t>
            </a:r>
            <a:r>
              <a:rPr lang="en-US" sz="1400" dirty="0">
                <a:solidFill>
                  <a:srgbClr val="000000"/>
                </a:solidFill>
              </a:rPr>
              <a:t> </a:t>
            </a:r>
            <a:r>
              <a:rPr lang="en-US" sz="1400" dirty="0" err="1">
                <a:solidFill>
                  <a:srgbClr val="000000"/>
                </a:solidFill>
              </a:rPr>
              <a:t>reales</a:t>
            </a:r>
            <a:r>
              <a:rPr lang="en-US" sz="1400" dirty="0">
                <a:solidFill>
                  <a:srgbClr val="000000"/>
                </a:solidFill>
              </a:rPr>
              <a:t> de </a:t>
            </a:r>
            <a:r>
              <a:rPr lang="en-US" sz="1400" dirty="0" err="1">
                <a:solidFill>
                  <a:srgbClr val="000000"/>
                </a:solidFill>
              </a:rPr>
              <a:t>población</a:t>
            </a:r>
            <a:r>
              <a:rPr lang="en-US" sz="1400" dirty="0">
                <a:solidFill>
                  <a:srgbClr val="000000"/>
                </a:solidFill>
              </a:rPr>
              <a:t> y </a:t>
            </a:r>
            <a:r>
              <a:rPr lang="en-US" sz="1400" dirty="0" err="1">
                <a:solidFill>
                  <a:srgbClr val="000000"/>
                </a:solidFill>
              </a:rPr>
              <a:t>área</a:t>
            </a:r>
            <a:r>
              <a:rPr lang="en-US" sz="1400" dirty="0">
                <a:solidFill>
                  <a:srgbClr val="000000"/>
                </a:solidFill>
              </a:rPr>
              <a:t>.</a:t>
            </a:r>
            <a:endParaRPr lang="es-US" sz="1400" dirty="0">
              <a:solidFill>
                <a:srgbClr val="000000"/>
              </a:solidFill>
            </a:endParaRPr>
          </a:p>
        </p:txBody>
      </p:sp>
      <p:sp>
        <p:nvSpPr>
          <p:cNvPr id="1048587" name="1048586 CuadroTexto"/>
          <p:cNvSpPr txBox="1"/>
          <p:nvPr/>
        </p:nvSpPr>
        <p:spPr>
          <a:xfrm>
            <a:off x="5209200" y="4412541"/>
            <a:ext cx="3136495" cy="954107"/>
          </a:xfrm>
          <a:prstGeom prst="rect">
            <a:avLst/>
          </a:prstGeom>
        </p:spPr>
        <p:txBody>
          <a:bodyPr wrap="square" rtlCol="0">
            <a:spAutoFit/>
          </a:bodyPr>
          <a:lstStyle/>
          <a:p>
            <a:r>
              <a:rPr lang="en-US" sz="1400" b="1" u="sng" dirty="0">
                <a:solidFill>
                  <a:srgbClr val="000000"/>
                </a:solidFill>
              </a:rPr>
              <a:t>Dijkstra con </a:t>
            </a:r>
            <a:r>
              <a:rPr lang="en-US" sz="1400" b="1" u="sng" dirty="0" err="1">
                <a:solidFill>
                  <a:srgbClr val="000000"/>
                </a:solidFill>
              </a:rPr>
              <a:t>ruta</a:t>
            </a:r>
            <a:endParaRPr lang="es-US" sz="1400" b="1" u="sng" dirty="0">
              <a:solidFill>
                <a:srgbClr val="000000"/>
              </a:solidFill>
            </a:endParaRPr>
          </a:p>
          <a:p>
            <a:r>
              <a:rPr lang="en-US" sz="1400" dirty="0" err="1">
                <a:solidFill>
                  <a:srgbClr val="000000"/>
                </a:solidFill>
              </a:rPr>
              <a:t>Calcula</a:t>
            </a:r>
            <a:r>
              <a:rPr lang="en-US" sz="1400" dirty="0">
                <a:solidFill>
                  <a:srgbClr val="000000"/>
                </a:solidFill>
              </a:rPr>
              <a:t> </a:t>
            </a:r>
            <a:r>
              <a:rPr lang="en-US" sz="1400" dirty="0" err="1">
                <a:solidFill>
                  <a:srgbClr val="000000"/>
                </a:solidFill>
              </a:rPr>
              <a:t>distancia</a:t>
            </a:r>
            <a:r>
              <a:rPr lang="en-US" sz="1400" dirty="0">
                <a:solidFill>
                  <a:srgbClr val="000000"/>
                </a:solidFill>
              </a:rPr>
              <a:t> </a:t>
            </a:r>
            <a:r>
              <a:rPr lang="en-US" sz="1400" dirty="0" err="1">
                <a:solidFill>
                  <a:srgbClr val="000000"/>
                </a:solidFill>
              </a:rPr>
              <a:t>mínima</a:t>
            </a:r>
            <a:r>
              <a:rPr lang="en-US" sz="1400" dirty="0">
                <a:solidFill>
                  <a:srgbClr val="000000"/>
                </a:solidFill>
              </a:rPr>
              <a:t> y </a:t>
            </a:r>
            <a:r>
              <a:rPr lang="en-US" sz="1400" dirty="0" err="1">
                <a:solidFill>
                  <a:srgbClr val="000000"/>
                </a:solidFill>
              </a:rPr>
              <a:t>reconstruye</a:t>
            </a:r>
            <a:r>
              <a:rPr lang="en-US" sz="1400" dirty="0">
                <a:solidFill>
                  <a:srgbClr val="000000"/>
                </a:solidFill>
              </a:rPr>
              <a:t> el </a:t>
            </a:r>
            <a:r>
              <a:rPr lang="en-US" sz="1400" dirty="0" err="1">
                <a:solidFill>
                  <a:srgbClr val="000000"/>
                </a:solidFill>
              </a:rPr>
              <a:t>camino</a:t>
            </a:r>
            <a:r>
              <a:rPr lang="en-US" sz="1400" dirty="0">
                <a:solidFill>
                  <a:srgbClr val="000000"/>
                </a:solidFill>
              </a:rPr>
              <a:t> </a:t>
            </a:r>
            <a:r>
              <a:rPr lang="en-US" sz="1400" dirty="0" err="1">
                <a:solidFill>
                  <a:srgbClr val="000000"/>
                </a:solidFill>
              </a:rPr>
              <a:t>completo</a:t>
            </a:r>
            <a:r>
              <a:rPr lang="en-US" sz="1400" dirty="0">
                <a:solidFill>
                  <a:srgbClr val="000000"/>
                </a:solidFill>
              </a:rPr>
              <a:t> </a:t>
            </a:r>
            <a:r>
              <a:rPr lang="en-US" sz="1400" dirty="0" err="1">
                <a:solidFill>
                  <a:srgbClr val="000000"/>
                </a:solidFill>
              </a:rPr>
              <a:t>usando</a:t>
            </a:r>
            <a:r>
              <a:rPr lang="en-US" sz="1400" dirty="0">
                <a:solidFill>
                  <a:srgbClr val="000000"/>
                </a:solidFill>
              </a:rPr>
              <a:t> el </a:t>
            </a:r>
            <a:r>
              <a:rPr lang="en-US" sz="1400" dirty="0" err="1">
                <a:solidFill>
                  <a:srgbClr val="000000"/>
                </a:solidFill>
              </a:rPr>
              <a:t>arreglo</a:t>
            </a:r>
            <a:r>
              <a:rPr lang="en-US" sz="1400" dirty="0">
                <a:solidFill>
                  <a:srgbClr val="000000"/>
                </a:solidFill>
              </a:rPr>
              <a:t> </a:t>
            </a:r>
            <a:r>
              <a:rPr lang="en-US" sz="1400" dirty="0" err="1">
                <a:solidFill>
                  <a:srgbClr val="000000"/>
                </a:solidFill>
              </a:rPr>
              <a:t>previo</a:t>
            </a:r>
            <a:r>
              <a:rPr lang="en-US" sz="1400" dirty="0">
                <a:solidFill>
                  <a:srgbClr val="000000"/>
                </a:solidFill>
              </a:rPr>
              <a:t>[].</a:t>
            </a:r>
            <a:endParaRPr lang="es-US" sz="1400" dirty="0">
              <a:solidFill>
                <a:srgbClr val="000000"/>
              </a:solidFill>
            </a:endParaRPr>
          </a:p>
        </p:txBody>
      </p:sp>
      <p:pic>
        <p:nvPicPr>
          <p:cNvPr id="2097153" name="2097152 Imagen"/>
          <p:cNvPicPr>
            <a:picLocks/>
          </p:cNvPicPr>
          <p:nvPr/>
        </p:nvPicPr>
        <p:blipFill>
          <a:blip r:embed="rId5"/>
          <a:srcRect t="444" b="444"/>
          <a:stretch>
            <a:fillRect/>
          </a:stretch>
        </p:blipFill>
        <p:spPr>
          <a:xfrm>
            <a:off x="517091" y="3799293"/>
            <a:ext cx="4692110" cy="2130734"/>
          </a:xfrm>
          <a:prstGeom prst="rect">
            <a:avLst/>
          </a:prstGeom>
        </p:spPr>
      </p:pic>
      <p:pic>
        <p:nvPicPr>
          <p:cNvPr id="2" name="Yosbiel P5.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961721" y="620688"/>
            <a:ext cx="609600" cy="609600"/>
          </a:xfrm>
          <a:prstGeom prst="rect">
            <a:avLst/>
          </a:prstGeom>
        </p:spPr>
      </p:pic>
      <p:pic>
        <p:nvPicPr>
          <p:cNvPr id="4" name="3 Imagen"/>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102036" y="1412775"/>
            <a:ext cx="4506659" cy="2143167"/>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5104"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4"/>
          <a:stretch>
            <a:fillRect/>
          </a:stretch>
        </a:blipFill>
        <a:effectLst/>
      </p:bgPr>
    </p:bg>
    <p:spTree>
      <p:nvGrpSpPr>
        <p:cNvPr id="1" name=""/>
        <p:cNvGrpSpPr/>
        <p:nvPr/>
      </p:nvGrpSpPr>
      <p:grpSpPr>
        <a:xfrm>
          <a:off x="0" y="0"/>
          <a:ext cx="0" cy="0"/>
          <a:chOff x="0" y="0"/>
          <a:chExt cx="0" cy="0"/>
        </a:xfrm>
      </p:grpSpPr>
      <p:sp>
        <p:nvSpPr>
          <p:cNvPr id="1048584" name="1 CuadroTexto"/>
          <p:cNvSpPr txBox="1"/>
          <p:nvPr/>
        </p:nvSpPr>
        <p:spPr>
          <a:xfrm>
            <a:off x="971600" y="620688"/>
            <a:ext cx="7344816" cy="5044440"/>
          </a:xfrm>
          <a:prstGeom prst="rect">
            <a:avLst/>
          </a:prstGeom>
          <a:noFill/>
        </p:spPr>
        <p:txBody>
          <a:bodyPr wrap="square" rtlCol="0">
            <a:spAutoFit/>
          </a:bodyPr>
          <a:lstStyle/>
          <a:p>
            <a:pPr algn="r"/>
            <a:r>
              <a:rPr lang="en-US" sz="2800" b="1" u="sng" dirty="0" err="1">
                <a:solidFill>
                  <a:srgbClr val="00B050"/>
                </a:solidFill>
              </a:rPr>
              <a:t>Conclusiones</a:t>
            </a:r>
            <a:endParaRPr lang="en-US" b="1" u="sng" dirty="0" smtClean="0">
              <a:solidFill>
                <a:srgbClr val="00B050"/>
              </a:solidFill>
            </a:endParaRPr>
          </a:p>
          <a:p>
            <a:pPr algn="r"/>
            <a:endParaRPr lang="en-US" b="1" dirty="0" smtClean="0"/>
          </a:p>
          <a:p>
            <a:pPr algn="l"/>
            <a:r>
              <a:rPr lang="en-US" b="1" u="sng" dirty="0" smtClean="0"/>
              <a:t>Ventajas del árbol general:</a:t>
            </a:r>
          </a:p>
          <a:p>
            <a:pPr marL="285750" indent="-285750" algn="l">
              <a:buFont typeface="Wingdings" charset="2"/>
              <a:buChar char="¡"/>
            </a:pPr>
            <a:r>
              <a:rPr lang="en-US" b="0" dirty="0" smtClean="0"/>
              <a:t>Representa de forma natural la jerarquía geográfica</a:t>
            </a:r>
          </a:p>
          <a:p>
            <a:pPr marL="285750" indent="-285750" algn="l">
              <a:buFont typeface="Wingdings" charset="2"/>
              <a:buChar char="¡"/>
            </a:pPr>
            <a:r>
              <a:rPr lang="en-US" b="0" dirty="0" smtClean="0"/>
              <a:t>Permite inserción, búsqueda y recorridos eficientes</a:t>
            </a:r>
          </a:p>
          <a:p>
            <a:pPr algn="l"/>
            <a:endParaRPr lang="en-US" b="1" dirty="0" smtClean="0"/>
          </a:p>
          <a:p>
            <a:pPr algn="l"/>
            <a:r>
              <a:rPr lang="en-US" b="1" u="sng" dirty="0" smtClean="0"/>
              <a:t>Ventajas del grafo con Dijkstra:</a:t>
            </a:r>
          </a:p>
          <a:p>
            <a:pPr marL="285750" indent="-285750" algn="l">
              <a:buFont typeface="Wingdings" charset="2"/>
              <a:buChar char="¡"/>
            </a:pPr>
            <a:r>
              <a:rPr lang="en-US" b="0" dirty="0" smtClean="0"/>
              <a:t>Modela rutas entre Consejos Populares con distancias reales</a:t>
            </a:r>
          </a:p>
          <a:p>
            <a:pPr marL="285750" indent="-285750" algn="l">
              <a:buFont typeface="Wingdings" charset="2"/>
              <a:buChar char="¡"/>
            </a:pPr>
            <a:r>
              <a:rPr lang="en-US" b="0" dirty="0" smtClean="0"/>
              <a:t>Calcula la ruta más corta y el camino completo</a:t>
            </a:r>
          </a:p>
          <a:p>
            <a:pPr algn="l"/>
            <a:endParaRPr lang="en-US" b="1" dirty="0" smtClean="0"/>
          </a:p>
          <a:p>
            <a:pPr algn="l"/>
            <a:r>
              <a:rPr lang="en-US" b="1" u="sng" dirty="0" smtClean="0"/>
              <a:t>Integración:</a:t>
            </a:r>
          </a:p>
          <a:p>
            <a:pPr marL="285750" indent="-285750" algn="l">
              <a:buFont typeface="Wingdings" charset="2"/>
              <a:buChar char="¡"/>
            </a:pPr>
            <a:r>
              <a:rPr lang="en-US" b="0" dirty="0" smtClean="0"/>
              <a:t>Ambas estructuras trabajan con los mismos datos (Consejos Populares)</a:t>
            </a:r>
          </a:p>
          <a:p>
            <a:pPr marL="285750" indent="-285750" algn="l">
              <a:buFont typeface="Wingdings" charset="2"/>
              <a:buChar char="¡"/>
            </a:pPr>
            <a:r>
              <a:rPr lang="en-US" b="0" dirty="0" smtClean="0"/>
              <a:t>El menú permite navegar el árbol, ver el grafo y ejecutar Dijkstra</a:t>
            </a:r>
          </a:p>
          <a:p>
            <a:pPr algn="l"/>
            <a:endParaRPr lang="en-US" b="1" u="sng" dirty="0" smtClean="0"/>
          </a:p>
          <a:p>
            <a:pPr algn="l"/>
            <a:r>
              <a:rPr lang="en-US" b="1" u="sng" dirty="0" smtClean="0"/>
              <a:t>Dificultades:</a:t>
            </a:r>
          </a:p>
          <a:p>
            <a:pPr marL="285750" indent="-285750" algn="l">
              <a:buFont typeface="Wingdings" charset="2"/>
              <a:buChar char="¡"/>
            </a:pPr>
            <a:r>
              <a:rPr lang="en-US" b="0" dirty="0" smtClean="0"/>
              <a:t>Obtener distancias reales entre Consejos Populares</a:t>
            </a:r>
          </a:p>
          <a:p>
            <a:pPr marL="285750" indent="-285750" algn="l">
              <a:buFont typeface="Wingdings" charset="2"/>
              <a:buChar char="¡"/>
            </a:pPr>
            <a:r>
              <a:rPr lang="en-US" b="0" dirty="0" smtClean="0"/>
              <a:t>Unificar clases auxiliares en un solo paquete</a:t>
            </a:r>
          </a:p>
        </p:txBody>
      </p:sp>
      <p:pic>
        <p:nvPicPr>
          <p:cNvPr id="2" name="Yosbiel P6.mp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15616" y="569509"/>
            <a:ext cx="609600" cy="6096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600">
        <p14:prism isContent="1"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378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showWhenStopped="0">
                <p:cTn id="7" fill="hold" display="0">
                  <p:stCondLst>
                    <p:cond delay="indefinite"/>
                  </p:stCondLst>
                  <p:endCondLst>
                    <p:cond evt="onStopAudio" delay="0">
                      <p:tgtEl>
                        <p:sldTgt/>
                      </p:tgtEl>
                    </p:cond>
                  </p:endCondLst>
                </p:cTn>
                <p:tgtEl>
                  <p:spTgt spid="2"/>
                </p:tgtEl>
              </p:cMediaNode>
            </p:audio>
          </p:childTnLst>
        </p:cTn>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TotalTime>
  <Words>518</Words>
  <Application>Microsoft Office PowerPoint</Application>
  <PresentationFormat>Presentación en pantalla (4:3)</PresentationFormat>
  <Paragraphs>85</Paragraphs>
  <Slides>6</Slides>
  <Notes>0</Notes>
  <HiddenSlides>0</HiddenSlides>
  <MMClips>6</MMClips>
  <ScaleCrop>false</ScaleCrop>
  <HeadingPairs>
    <vt:vector size="4" baseType="variant">
      <vt:variant>
        <vt:lpstr>Tema</vt:lpstr>
      </vt:variant>
      <vt:variant>
        <vt:i4>1</vt:i4>
      </vt:variant>
      <vt:variant>
        <vt:lpstr>Títulos de diapositiva</vt:lpstr>
      </vt:variant>
      <vt:variant>
        <vt:i4>6</vt:i4>
      </vt:variant>
    </vt:vector>
  </HeadingPairs>
  <TitlesOfParts>
    <vt:vector size="7" baseType="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Yosbiel A</dc:creator>
  <cp:lastModifiedBy>Meta</cp:lastModifiedBy>
  <cp:revision>4</cp:revision>
  <dcterms:created xsi:type="dcterms:W3CDTF">2026-06-18T10:44:45Z</dcterms:created>
  <dcterms:modified xsi:type="dcterms:W3CDTF">2026-06-18T08:50:03Z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50f47999fa2a4891b0ec2a763ad0098e</vt:lpwstr>
  </property>
</Properties>
</file>